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7" r:id="rId9"/>
    <p:sldId id="289" r:id="rId10"/>
    <p:sldId id="274" r:id="rId11"/>
    <p:sldId id="278" r:id="rId12"/>
    <p:sldId id="265" r:id="rId13"/>
    <p:sldId id="280" r:id="rId14"/>
    <p:sldId id="290" r:id="rId15"/>
    <p:sldId id="272" r:id="rId16"/>
    <p:sldId id="279" r:id="rId17"/>
    <p:sldId id="267" r:id="rId18"/>
    <p:sldId id="294" r:id="rId19"/>
    <p:sldId id="296" r:id="rId20"/>
    <p:sldId id="297" r:id="rId21"/>
    <p:sldId id="298" r:id="rId22"/>
    <p:sldId id="299" r:id="rId23"/>
    <p:sldId id="268" r:id="rId24"/>
    <p:sldId id="282" r:id="rId25"/>
    <p:sldId id="285" r:id="rId26"/>
    <p:sldId id="286" r:id="rId27"/>
    <p:sldId id="283" r:id="rId28"/>
    <p:sldId id="287" r:id="rId29"/>
    <p:sldId id="288" r:id="rId30"/>
    <p:sldId id="292" r:id="rId31"/>
    <p:sldId id="293" r:id="rId32"/>
    <p:sldId id="284" r:id="rId33"/>
    <p:sldId id="291" r:id="rId34"/>
    <p:sldId id="269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59" autoAdjust="0"/>
  </p:normalViewPr>
  <p:slideViewPr>
    <p:cSldViewPr snapToGrid="0" showGuides="1">
      <p:cViewPr varScale="1">
        <p:scale>
          <a:sx n="116" d="100"/>
          <a:sy n="116" d="100"/>
        </p:scale>
        <p:origin x="67" y="101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EEE75-E498-481F-B48E-FD71B739179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8B24D-97D2-42A6-9DF4-8214AD1C02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7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007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684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391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999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585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269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243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063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7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414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21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1179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635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697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587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306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409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453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319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260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8775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94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8327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7611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0686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07890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7982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305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1618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38609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="" xmlns:a16="http://schemas.microsoft.com/office/drawing/2014/main" id="{BCBC297A-EC5F-F19E-6F0D-9414BCD0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ec3e76e843_0_436:notes">
            <a:extLst>
              <a:ext uri="{FF2B5EF4-FFF2-40B4-BE49-F238E27FC236}">
                <a16:creationId xmlns="" xmlns:a16="http://schemas.microsoft.com/office/drawing/2014/main" id="{C15A8C64-FC89-4617-4FC8-6F6AF6938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ec3e76e843_0_436:notes">
            <a:extLst>
              <a:ext uri="{FF2B5EF4-FFF2-40B4-BE49-F238E27FC236}">
                <a16:creationId xmlns="" xmlns:a16="http://schemas.microsoft.com/office/drawing/2014/main" id="{3F74CD39-F352-8083-BDB6-1C0E5D89A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3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92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7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84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2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40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99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83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53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8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35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93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090557" y="-2341294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50967" y="1572817"/>
            <a:ext cx="8466800" cy="19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50967" y="4733584"/>
            <a:ext cx="8466800" cy="5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  <a:latin typeface="+mn-lt"/>
                <a:cs typeface="Arial" panose="020B060402020202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950967" y="3504417"/>
            <a:ext cx="8466800" cy="7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+mn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grpSp>
        <p:nvGrpSpPr>
          <p:cNvPr id="13" name="Google Shape;13;p2"/>
          <p:cNvGrpSpPr/>
          <p:nvPr/>
        </p:nvGrpSpPr>
        <p:grpSpPr>
          <a:xfrm>
            <a:off x="359600" y="359600"/>
            <a:ext cx="11465346" cy="6134164"/>
            <a:chOff x="269700" y="269700"/>
            <a:chExt cx="8599010" cy="4600623"/>
          </a:xfrm>
        </p:grpSpPr>
        <p:sp>
          <p:nvSpPr>
            <p:cNvPr id="15" name="Google Shape;15;p2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6106" y="6358031"/>
            <a:ext cx="237680" cy="24560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9426" y="265897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8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2" hasCustomPrompt="1"/>
          </p:nvPr>
        </p:nvSpPr>
        <p:spPr>
          <a:xfrm>
            <a:off x="959967" y="213653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3" hasCustomPrompt="1"/>
          </p:nvPr>
        </p:nvSpPr>
        <p:spPr>
          <a:xfrm>
            <a:off x="6200800" y="21365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 hasCustomPrompt="1"/>
          </p:nvPr>
        </p:nvSpPr>
        <p:spPr>
          <a:xfrm>
            <a:off x="959955" y="321014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5" hasCustomPrompt="1"/>
          </p:nvPr>
        </p:nvSpPr>
        <p:spPr>
          <a:xfrm>
            <a:off x="6200788" y="32101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6" hasCustomPrompt="1"/>
          </p:nvPr>
        </p:nvSpPr>
        <p:spPr>
          <a:xfrm>
            <a:off x="959977" y="428374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 hasCustomPrompt="1"/>
          </p:nvPr>
        </p:nvSpPr>
        <p:spPr>
          <a:xfrm>
            <a:off x="6200811" y="42837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2030767" y="213653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8"/>
          </p:nvPr>
        </p:nvSpPr>
        <p:spPr>
          <a:xfrm>
            <a:off x="2030755" y="321014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2030777" y="428374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7271600" y="21365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4"/>
          </p:nvPr>
        </p:nvSpPr>
        <p:spPr>
          <a:xfrm>
            <a:off x="7271588" y="32101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5"/>
          </p:nvPr>
        </p:nvSpPr>
        <p:spPr>
          <a:xfrm>
            <a:off x="7271611" y="42837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pic>
        <p:nvPicPr>
          <p:cNvPr id="107" name="Google Shape;107;p13"/>
          <p:cNvPicPr preferRelativeResize="0"/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7714090" y="-2844943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5960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432" y="6370963"/>
            <a:ext cx="240824" cy="245602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9188" y="272311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19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909524" y="2275473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>
            <a:spLocks noGrp="1"/>
          </p:cNvSpPr>
          <p:nvPr>
            <p:ph type="pic" idx="2"/>
          </p:nvPr>
        </p:nvSpPr>
        <p:spPr>
          <a:xfrm>
            <a:off x="664400" y="721767"/>
            <a:ext cx="3913600" cy="5467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400">
                <a:latin typeface="+mj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3" hasCustomPrompt="1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latin typeface="+mj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359600" y="359600"/>
            <a:ext cx="11465346" cy="6134164"/>
            <a:chOff x="269700" y="269700"/>
            <a:chExt cx="8599010" cy="4600623"/>
          </a:xfrm>
        </p:grpSpPr>
        <p:sp>
          <p:nvSpPr>
            <p:cNvPr id="24" name="Google Shape;24;p3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0760" y="236798"/>
            <a:ext cx="240824" cy="24560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4534" y="6370963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711583" y="2429999"/>
            <a:ext cx="4236400" cy="17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+mj-lt"/>
                <a:cs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960012" y="2429999"/>
            <a:ext cx="4236400" cy="17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960012" y="1908733"/>
            <a:ext cx="423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5711588" y="1908733"/>
            <a:ext cx="423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180406" y="3095806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 flipH="1">
            <a:off x="79372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033" y="6370963"/>
            <a:ext cx="245200" cy="24560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9866" y="330496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6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40606" y="-3357161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5960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000" y="281059"/>
            <a:ext cx="245200" cy="24560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34089" y="6370963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87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latin typeface="+mj-lt"/>
                <a:cs typeface="Arial" panose="020B0604020202020204" pitchFamily="34" charset="0"/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452524" y="3635606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 rot="10800000" flipH="1">
            <a:off x="367120" y="3596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4520" y="6328291"/>
            <a:ext cx="245200" cy="24560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97513" y="236798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1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1E82E-FF8B-4864-86DB-E218E3AADF56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41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3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ctrTitle"/>
          </p:nvPr>
        </p:nvSpPr>
        <p:spPr>
          <a:xfrm>
            <a:off x="950967" y="1572817"/>
            <a:ext cx="8466800" cy="19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191919"/>
                </a:solidFill>
                <a:latin typeface="Maven Pro Medium" panose="00000600000000000000" pitchFamily="2" charset="0"/>
                <a:ea typeface="Segoe UI Black" panose="020B0A02040204020203" pitchFamily="34" charset="0"/>
              </a:rPr>
              <a:t>Ускорение </a:t>
            </a:r>
            <a:r>
              <a:rPr lang="en" b="1" dirty="0">
                <a:solidFill>
                  <a:srgbClr val="191919"/>
                </a:solidFill>
                <a:latin typeface="Maven Pro Medium" panose="00000600000000000000" pitchFamily="2" charset="0"/>
                <a:ea typeface="Segoe UI Black" panose="020B0A02040204020203" pitchFamily="34" charset="0"/>
              </a:rPr>
              <a:t>Unet Inference</a:t>
            </a:r>
            <a:endParaRPr lang="ru-RU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Google Shape;524;p48">
            <a:extLst>
              <a:ext uri="{FF2B5EF4-FFF2-40B4-BE49-F238E27FC236}">
                <a16:creationId xmlns="" xmlns:a16="http://schemas.microsoft.com/office/drawing/2014/main" id="{757BF2DF-D005-2CD2-72BF-45D822D3CB69}"/>
              </a:ext>
            </a:extLst>
          </p:cNvPr>
          <p:cNvSpPr txBox="1">
            <a:spLocks/>
          </p:cNvSpPr>
          <p:nvPr/>
        </p:nvSpPr>
        <p:spPr>
          <a:xfrm>
            <a:off x="8174162" y="4019664"/>
            <a:ext cx="3484438" cy="210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Bef>
                <a:spcPts val="1333"/>
              </a:spcBef>
            </a:pPr>
            <a:r>
              <a:rPr lang="ru-RU" sz="2200" b="1" dirty="0">
                <a:solidFill>
                  <a:schemeClr val="tx1"/>
                </a:solidFill>
                <a:latin typeface="+mn-lt"/>
                <a:ea typeface="Maven Pro SemiBold"/>
                <a:cs typeface="Segoe UI" panose="020B0502040204020203" pitchFamily="34" charset="0"/>
              </a:rPr>
              <a:t>Авторы</a:t>
            </a:r>
            <a:r>
              <a:rPr lang="en-US" sz="2200" b="1" dirty="0">
                <a:solidFill>
                  <a:schemeClr val="tx1"/>
                </a:solidFill>
                <a:latin typeface="Maven Pro Medium" panose="00000600000000000000" pitchFamily="2" charset="0"/>
                <a:ea typeface="Maven Pro SemiBold"/>
                <a:cs typeface="Segoe UI" panose="020B0502040204020203" pitchFamily="34" charset="0"/>
              </a:rPr>
              <a:t> </a:t>
            </a:r>
            <a:endParaRPr lang="ru-RU" sz="2200" b="1" dirty="0">
              <a:solidFill>
                <a:schemeClr val="tx1"/>
              </a:solidFill>
              <a:latin typeface="+mn-lt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Тюменцева Ирина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Никитюк Илья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Потапенко Антон</a:t>
            </a:r>
          </a:p>
        </p:txBody>
      </p:sp>
    </p:spTree>
    <p:extLst>
      <p:ext uri="{BB962C8B-B14F-4D97-AF65-F5344CB8AC3E}">
        <p14:creationId xmlns:p14="http://schemas.microsoft.com/office/powerpoint/2010/main" val="285544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Содержание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959967" y="213653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01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 idx="3"/>
          </p:nvPr>
        </p:nvSpPr>
        <p:spPr>
          <a:xfrm>
            <a:off x="6200800" y="2136525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04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 idx="4"/>
          </p:nvPr>
        </p:nvSpPr>
        <p:spPr>
          <a:xfrm>
            <a:off x="959955" y="321014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02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5" name="Google Shape;245;p29"/>
          <p:cNvSpPr txBox="1">
            <a:spLocks noGrp="1"/>
          </p:cNvSpPr>
          <p:nvPr>
            <p:ph type="title" idx="5"/>
          </p:nvPr>
        </p:nvSpPr>
        <p:spPr>
          <a:xfrm>
            <a:off x="6200788" y="3210125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05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title" idx="6"/>
          </p:nvPr>
        </p:nvSpPr>
        <p:spPr>
          <a:xfrm>
            <a:off x="959977" y="428374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03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8" name="Google Shape;248;p29"/>
          <p:cNvSpPr txBox="1">
            <a:spLocks noGrp="1"/>
          </p:cNvSpPr>
          <p:nvPr>
            <p:ph type="subTitle" idx="1"/>
          </p:nvPr>
        </p:nvSpPr>
        <p:spPr>
          <a:xfrm>
            <a:off x="2030755" y="21365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Baseline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49" name="Google Shape;249;p29"/>
          <p:cNvSpPr txBox="1">
            <a:spLocks noGrp="1"/>
          </p:cNvSpPr>
          <p:nvPr>
            <p:ph type="subTitle" idx="8"/>
          </p:nvPr>
        </p:nvSpPr>
        <p:spPr>
          <a:xfrm>
            <a:off x="2030755" y="3210143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Torch compile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50" name="Google Shape;250;p29"/>
          <p:cNvSpPr txBox="1">
            <a:spLocks noGrp="1"/>
          </p:cNvSpPr>
          <p:nvPr>
            <p:ph type="subTitle" idx="9"/>
          </p:nvPr>
        </p:nvSpPr>
        <p:spPr>
          <a:xfrm>
            <a:off x="2030777" y="4283747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TVM</a:t>
            </a:r>
          </a:p>
        </p:txBody>
      </p:sp>
      <p:sp>
        <p:nvSpPr>
          <p:cNvPr id="251" name="Google Shape;251;p29"/>
          <p:cNvSpPr txBox="1">
            <a:spLocks noGrp="1"/>
          </p:cNvSpPr>
          <p:nvPr>
            <p:ph type="subTitle" idx="13"/>
          </p:nvPr>
        </p:nvSpPr>
        <p:spPr>
          <a:xfrm>
            <a:off x="7271600" y="21365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Quantization </a:t>
            </a:r>
          </a:p>
        </p:txBody>
      </p:sp>
      <p:sp>
        <p:nvSpPr>
          <p:cNvPr id="252" name="Google Shape;252;p29"/>
          <p:cNvSpPr txBox="1">
            <a:spLocks noGrp="1"/>
          </p:cNvSpPr>
          <p:nvPr>
            <p:ph type="subTitle" idx="14"/>
          </p:nvPr>
        </p:nvSpPr>
        <p:spPr>
          <a:xfrm>
            <a:off x="7271588" y="32101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Pruning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9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Baseline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01</a:t>
            </a:r>
            <a:endParaRPr sz="6600"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84" y="2235934"/>
            <a:ext cx="3697640" cy="23861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5711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>
            <a:spLocks noGrp="1"/>
          </p:cNvSpPr>
          <p:nvPr>
            <p:ph type="subTitle" idx="4"/>
          </p:nvPr>
        </p:nvSpPr>
        <p:spPr>
          <a:xfrm>
            <a:off x="6230652" y="1853267"/>
            <a:ext cx="42364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2800" dirty="0">
                <a:latin typeface="Maven Pro Medium" panose="00000600000000000000" pitchFamily="2" charset="0"/>
              </a:rPr>
              <a:t>Model parameters</a:t>
            </a:r>
            <a:endParaRPr lang="ru-RU" sz="2800" dirty="0"/>
          </a:p>
        </p:txBody>
      </p:sp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Baseline</a:t>
            </a:r>
          </a:p>
        </p:txBody>
      </p:sp>
      <p:sp>
        <p:nvSpPr>
          <p:cNvPr id="274" name="Google Shape;274;p32"/>
          <p:cNvSpPr txBox="1">
            <a:spLocks noGrp="1"/>
          </p:cNvSpPr>
          <p:nvPr>
            <p:ph type="subTitle" idx="1"/>
          </p:nvPr>
        </p:nvSpPr>
        <p:spPr>
          <a:xfrm>
            <a:off x="6230651" y="2429999"/>
            <a:ext cx="4695083" cy="30967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Loss: </a:t>
            </a:r>
            <a:r>
              <a:rPr lang="en" sz="2000" dirty="0" err="1">
                <a:latin typeface="Maven Pro" panose="00000500000000000000" pitchFamily="2" charset="0"/>
              </a:rPr>
              <a:t>CrossEntropyLoss</a:t>
            </a:r>
            <a:endParaRPr lang="ru-RU" sz="2000" dirty="0" err="1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Optimizer: </a:t>
            </a:r>
            <a:r>
              <a:rPr lang="en" sz="2000" dirty="0" err="1">
                <a:latin typeface="Maven Pro" panose="00000500000000000000" pitchFamily="2" charset="0"/>
              </a:rPr>
              <a:t>AdamW</a:t>
            </a:r>
            <a:endParaRPr lang="en-US" sz="2000" dirty="0" err="1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Learning rate: </a:t>
            </a:r>
            <a:r>
              <a:rPr lang="en" sz="2000" dirty="0">
                <a:latin typeface="Maven Pro" panose="00000500000000000000" pitchFamily="2" charset="0"/>
              </a:rPr>
              <a:t>10e-3 + scheduler</a:t>
            </a: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Epochs: </a:t>
            </a:r>
            <a:r>
              <a:rPr lang="en" sz="2000" dirty="0">
                <a:latin typeface="Maven Pro" panose="00000500000000000000" pitchFamily="2" charset="0"/>
              </a:rPr>
              <a:t>20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1" y="2429999"/>
            <a:ext cx="5284693" cy="30967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Encoder: </a:t>
            </a:r>
            <a:r>
              <a:rPr lang="en" sz="2000" dirty="0">
                <a:latin typeface="Maven Pro" panose="00000500000000000000" pitchFamily="2" charset="0"/>
              </a:rPr>
              <a:t>ResNet101</a:t>
            </a:r>
            <a:endParaRPr lang="ru-RU" sz="2000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Pretrain encoder dataset: </a:t>
            </a:r>
            <a:r>
              <a:rPr lang="en" sz="2000" dirty="0">
                <a:latin typeface="Maven Pro" panose="00000500000000000000" pitchFamily="2" charset="0"/>
              </a:rPr>
              <a:t>ImageNet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Model parameters: </a:t>
            </a:r>
            <a:r>
              <a:rPr lang="en" sz="2000" dirty="0">
                <a:latin typeface="Maven Pro" panose="00000500000000000000" pitchFamily="2" charset="0"/>
              </a:rPr>
              <a:t>51 524 833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Train decoder dataset: </a:t>
            </a:r>
            <a:r>
              <a:rPr lang="en" sz="2000" dirty="0">
                <a:latin typeface="Maven Pro" panose="00000500000000000000" pitchFamily="2" charset="0"/>
              </a:rPr>
              <a:t>COCO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Dataset size: </a:t>
            </a:r>
            <a:r>
              <a:rPr lang="en-US" sz="2000" dirty="0">
                <a:latin typeface="Maven Pro" panose="00000500000000000000" pitchFamily="2" charset="0"/>
              </a:rPr>
              <a:t>~ 123 000 images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Number</a:t>
            </a:r>
            <a:r>
              <a:rPr lang="ru-RU" sz="2000" b="1" dirty="0">
                <a:latin typeface="Maven Pro" panose="00000500000000000000" pitchFamily="2" charset="0"/>
              </a:rPr>
              <a:t> </a:t>
            </a:r>
            <a:r>
              <a:rPr lang="en-US" sz="2000" b="1" dirty="0">
                <a:latin typeface="Maven Pro" panose="00000500000000000000" pitchFamily="2" charset="0"/>
              </a:rPr>
              <a:t>of</a:t>
            </a:r>
            <a:r>
              <a:rPr lang="en" sz="2000" b="1" dirty="0">
                <a:latin typeface="Maven Pro" panose="00000500000000000000" pitchFamily="2" charset="0"/>
              </a:rPr>
              <a:t> classes: </a:t>
            </a:r>
            <a:r>
              <a:rPr lang="en" sz="2000" dirty="0">
                <a:latin typeface="Maven Pro" panose="00000500000000000000" pitchFamily="2" charset="0"/>
              </a:rPr>
              <a:t>81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Maven Pro" panose="00000500000000000000" pitchFamily="2" charset="0"/>
              </a:rPr>
              <a:t>d</a:t>
            </a:r>
            <a:r>
              <a:rPr lang="en" sz="2000" b="1" dirty="0">
                <a:latin typeface="Maven Pro" panose="00000500000000000000" pitchFamily="2" charset="0"/>
              </a:rPr>
              <a:t>type: </a:t>
            </a:r>
            <a:r>
              <a:rPr lang="en-US" sz="2000" dirty="0">
                <a:latin typeface="Maven Pro" panose="00000500000000000000" pitchFamily="2" charset="0"/>
              </a:rPr>
              <a:t>bfloat16</a:t>
            </a:r>
            <a:endParaRPr lang="en" sz="2000" dirty="0">
              <a:latin typeface="Maven Pro" panose="00000500000000000000" pitchFamily="2" charset="0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908733"/>
            <a:ext cx="5284693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2800" dirty="0">
                <a:latin typeface="Maven Pro Medium" panose="00000600000000000000" pitchFamily="2" charset="0"/>
              </a:rPr>
              <a:t>Task parameters</a:t>
            </a:r>
          </a:p>
        </p:txBody>
      </p:sp>
    </p:spTree>
    <p:extLst>
      <p:ext uri="{BB962C8B-B14F-4D97-AF65-F5344CB8AC3E}">
        <p14:creationId xmlns:p14="http://schemas.microsoft.com/office/powerpoint/2010/main" val="215651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Loss function</a:t>
            </a:r>
          </a:p>
        </p:txBody>
      </p:sp>
      <p:pic>
        <p:nvPicPr>
          <p:cNvPr id="2" name="Рисунок 1" descr="Изображение выглядит как линия, График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52DE384D-4F4D-6D41-2F27-0C2522E86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02" y="2222830"/>
            <a:ext cx="4630717" cy="3728521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82AC121C-7EE5-89AC-199F-DBF10D5A8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69" y="2222829"/>
            <a:ext cx="4630719" cy="3728524"/>
          </a:xfrm>
          <a:prstGeom prst="rect">
            <a:avLst/>
          </a:prstGeom>
        </p:spPr>
      </p:pic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</p:spTree>
    <p:extLst>
      <p:ext uri="{BB962C8B-B14F-4D97-AF65-F5344CB8AC3E}">
        <p14:creationId xmlns:p14="http://schemas.microsoft.com/office/powerpoint/2010/main" val="29235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 descr="Изображение выглядит как текст, человек, снимок экрана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65D54DA4-CBB4-A737-1C4B-D11A8853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9" y="650549"/>
            <a:ext cx="11063845" cy="55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1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Torch Compile</a:t>
            </a:r>
            <a:endParaRPr b="1" dirty="0">
              <a:latin typeface="Maven Pro Medium" panose="00000600000000000000" pitchFamily="2" charset="0"/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b="1" dirty="0">
                <a:latin typeface="Maven Pro Medium" panose="00000600000000000000" pitchFamily="2" charset="0"/>
              </a:rPr>
              <a:t>02</a:t>
            </a:r>
            <a:endParaRPr sz="6600" b="1" dirty="0">
              <a:latin typeface="Maven Pro Medium" panose="00000600000000000000" pitchFamily="2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>
            <a:fillRect/>
          </a:stretch>
        </p:blipFill>
        <p:spPr>
          <a:xfrm>
            <a:off x="764198" y="1391677"/>
            <a:ext cx="3873542" cy="3871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475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568960"/>
            <a:ext cx="10505859" cy="9139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Maven Pro Medium" panose="00000600000000000000" pitchFamily="2" charset="0"/>
              </a:rPr>
              <a:t>T</a:t>
            </a:r>
            <a:r>
              <a:rPr lang="en" b="1" dirty="0">
                <a:latin typeface="Maven Pro Medium" panose="00000600000000000000" pitchFamily="2" charset="0"/>
              </a:rPr>
              <a:t>orch.compile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1" y="2205872"/>
            <a:ext cx="10505859" cy="410348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baseline </a:t>
            </a:r>
            <a:r>
              <a:rPr lang="ru-RU" sz="2000" dirty="0">
                <a:latin typeface="Maven Pro" panose="00000500000000000000" pitchFamily="2" charset="0"/>
              </a:rPr>
              <a:t>модель </a:t>
            </a:r>
            <a:r>
              <a:rPr lang="en-US" sz="2000" dirty="0">
                <a:latin typeface="Maven Pro" panose="00000500000000000000" pitchFamily="2" charset="0"/>
              </a:rPr>
              <a:t>FP16/BF16 </a:t>
            </a:r>
            <a:r>
              <a:rPr lang="ru-RU" sz="2000" dirty="0">
                <a:latin typeface="Maven Pro" panose="00000500000000000000" pitchFamily="2" charset="0"/>
              </a:rPr>
              <a:t>и сравниваем с </a:t>
            </a:r>
            <a:r>
              <a:rPr lang="en-US" sz="2000" dirty="0" err="1">
                <a:latin typeface="Maven Pro" panose="00000500000000000000" pitchFamily="2" charset="0"/>
              </a:rPr>
              <a:t>torch.compile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latin typeface="Maven Pro" panose="00000500000000000000" pitchFamily="2" charset="0"/>
              </a:rPr>
              <a:t>torch.compile</a:t>
            </a:r>
            <a:r>
              <a:rPr lang="en-US" sz="2000" dirty="0">
                <a:latin typeface="Maven Pro" panose="00000500000000000000" pitchFamily="2" charset="0"/>
              </a:rPr>
              <a:t> </a:t>
            </a:r>
            <a:r>
              <a:rPr lang="ru-RU" sz="2000" dirty="0">
                <a:latin typeface="Maven Pro" panose="00000500000000000000" pitchFamily="2" charset="0"/>
              </a:rPr>
              <a:t>запущена</a:t>
            </a:r>
            <a:r>
              <a:rPr lang="en-US" sz="2000" dirty="0">
                <a:latin typeface="Maven Pro" panose="00000500000000000000" pitchFamily="2" charset="0"/>
              </a:rPr>
              <a:t> </a:t>
            </a:r>
            <a:r>
              <a:rPr lang="ru-RU" sz="2000" dirty="0">
                <a:latin typeface="Maven Pro" panose="00000500000000000000" pitchFamily="2" charset="0"/>
              </a:rPr>
              <a:t>в</a:t>
            </a:r>
            <a:r>
              <a:rPr lang="en-US" sz="2000" dirty="0">
                <a:latin typeface="Maven Pro" panose="00000500000000000000" pitchFamily="2" charset="0"/>
              </a:rPr>
              <a:t> 2 </a:t>
            </a:r>
            <a:r>
              <a:rPr lang="ru-RU" sz="2000" dirty="0">
                <a:latin typeface="Maven Pro" panose="00000500000000000000" pitchFamily="2" charset="0"/>
              </a:rPr>
              <a:t>режимах</a:t>
            </a:r>
            <a:r>
              <a:rPr lang="en-US" sz="2000" dirty="0">
                <a:latin typeface="Maven Pro" panose="00000500000000000000" pitchFamily="2" charset="0"/>
              </a:rPr>
              <a:t>: 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default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max-</a:t>
            </a:r>
            <a:r>
              <a:rPr lang="en-US" sz="1600" i="1" dirty="0" err="1">
                <a:latin typeface="Maven Pro" panose="00000500000000000000" pitchFamily="2" charset="0"/>
              </a:rPr>
              <a:t>autotune</a:t>
            </a:r>
            <a:endParaRPr lang="en-US" sz="1600" i="1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Были оценены основные параметры </a:t>
            </a:r>
            <a:r>
              <a:rPr lang="en-US" sz="2000" dirty="0">
                <a:latin typeface="Maven Pro" panose="00000500000000000000" pitchFamily="2" charset="0"/>
              </a:rPr>
              <a:t>inference: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Latency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/>
              </a:rPr>
              <a:t>throughput with batch sizes: 1, 2, 4, 8, 16, 32, 64</a:t>
            </a:r>
            <a:r>
              <a:rPr lang="ru-RU" sz="1600" i="1" dirty="0">
                <a:latin typeface="Maven Pro"/>
              </a:rPr>
              <a:t> </a:t>
            </a:r>
            <a:endParaRPr lang="en-US" sz="16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/>
              </a:rPr>
              <a:t>Качество модели было оценено метрикой </a:t>
            </a:r>
            <a:r>
              <a:rPr lang="en-US" sz="2000" i="1" dirty="0" err="1">
                <a:latin typeface="Maven Pro"/>
              </a:rPr>
              <a:t>mIoU</a:t>
            </a:r>
            <a:endParaRPr lang="ru-RU" sz="2000" i="1" dirty="0">
              <a:latin typeface="Maven Pro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482933"/>
            <a:ext cx="10424276" cy="72293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ru-RU" sz="2800" dirty="0">
                <a:latin typeface="Maven Pro Medium" panose="00000600000000000000" pitchFamily="2" charset="0"/>
              </a:rPr>
              <a:t>Что было сделано</a:t>
            </a:r>
            <a:endParaRPr lang="en" sz="2800" dirty="0">
              <a:latin typeface="Maven Pro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47" y="640176"/>
            <a:ext cx="10040305" cy="565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1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2" y="719334"/>
            <a:ext cx="575309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096000" y="714715"/>
            <a:ext cx="5753099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6485D845-DF70-0C3D-B60C-DCFC937D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00" y="1905017"/>
            <a:ext cx="5296701" cy="38106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6E595DB-DF5B-ED87-D77C-C2961E027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847" y="1781175"/>
            <a:ext cx="5336711" cy="40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1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Baseline &amp; Torch compile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E66EE6BB-996F-FA43-4837-A6B998584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207" y="1870776"/>
            <a:ext cx="6439335" cy="45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18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03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6" y="3327399"/>
            <a:ext cx="6714919" cy="2406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5400" b="1" dirty="0">
                <a:latin typeface="Maven Pro Medium" panose="00000600000000000000" pitchFamily="2" charset="0"/>
              </a:rPr>
              <a:t>Open Machine Learning Compiler Framework (TVM)</a:t>
            </a:r>
            <a:br>
              <a:rPr lang="en-US" sz="5400" b="1" dirty="0">
                <a:latin typeface="Maven Pro Medium" panose="00000600000000000000" pitchFamily="2" charset="0"/>
              </a:rPr>
            </a:br>
            <a:endParaRPr sz="5400"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0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1" y="1703104"/>
            <a:ext cx="4469944" cy="3451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>
              <a:srgbClr val="FFFFFF"/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40822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548640"/>
            <a:ext cx="10505859" cy="93429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Maven Pro Medium" panose="00000600000000000000" pitchFamily="2" charset="0"/>
              </a:rPr>
              <a:t>TVM</a:t>
            </a:r>
            <a:endParaRPr lang="en" b="1" dirty="0">
              <a:latin typeface="Maven Pro Medium" panose="00000600000000000000" pitchFamily="2" charset="0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482933"/>
            <a:ext cx="10505859" cy="61002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ru-RU" sz="2800" dirty="0">
                <a:latin typeface="Maven Pro Medium" panose="00000600000000000000" pitchFamily="2" charset="0"/>
              </a:rPr>
              <a:t>Что было сделано</a:t>
            </a:r>
            <a:endParaRPr lang="en" sz="2800" dirty="0">
              <a:latin typeface="Maven Pro Medium" panose="00000600000000000000" pitchFamily="2" charset="0"/>
            </a:endParaRPr>
          </a:p>
        </p:txBody>
      </p:sp>
      <p:sp>
        <p:nvSpPr>
          <p:cNvPr id="10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0" y="2092960"/>
            <a:ext cx="10505859" cy="410348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baseline </a:t>
            </a:r>
            <a:r>
              <a:rPr lang="ru-RU" sz="2000" dirty="0">
                <a:latin typeface="Maven Pro" panose="00000500000000000000" pitchFamily="2" charset="0"/>
              </a:rPr>
              <a:t>модель в </a:t>
            </a:r>
            <a:r>
              <a:rPr lang="en-US" sz="2000" dirty="0">
                <a:latin typeface="Maven Pro" panose="00000500000000000000" pitchFamily="2" charset="0"/>
              </a:rPr>
              <a:t>BF16 </a:t>
            </a:r>
            <a:r>
              <a:rPr lang="ru-RU" sz="2000" dirty="0">
                <a:latin typeface="Maven Pro" panose="00000500000000000000" pitchFamily="2" charset="0"/>
              </a:rPr>
              <a:t>и сравниваем с</a:t>
            </a:r>
            <a:r>
              <a:rPr lang="en-US" sz="2000" dirty="0">
                <a:latin typeface="Maven Pro" panose="00000500000000000000" pitchFamily="2" charset="0"/>
              </a:rPr>
              <a:t> TVM</a:t>
            </a:r>
            <a:endParaRPr lang="ru-RU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Pipeline: 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 err="1">
                <a:latin typeface="Maven Pro" panose="00000500000000000000" pitchFamily="2" charset="0"/>
              </a:rPr>
              <a:t>torch.export</a:t>
            </a:r>
            <a:r>
              <a:rPr lang="en-US" sz="1600" i="1" dirty="0">
                <a:latin typeface="Maven Pro" panose="00000500000000000000" pitchFamily="2" charset="0"/>
              </a:rPr>
              <a:t> -&gt; TVM Relax -&gt; CUDA build -&gt; VM runtime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Были оценены основные параметры </a:t>
            </a:r>
            <a:r>
              <a:rPr lang="en-US" sz="2000" dirty="0">
                <a:latin typeface="Maven Pro" panose="00000500000000000000" pitchFamily="2" charset="0"/>
              </a:rPr>
              <a:t>inference: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Latency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/>
              </a:rPr>
              <a:t>throughput with batch sizes: 1, 2, 4, 8, 16, 32, 64</a:t>
            </a:r>
            <a:r>
              <a:rPr lang="ru-RU" sz="1600" i="1" dirty="0">
                <a:latin typeface="Maven Pro"/>
              </a:rPr>
              <a:t> </a:t>
            </a:r>
            <a:endParaRPr lang="en-US" sz="16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/>
              </a:rPr>
              <a:t>Качество модели было оценено метрикой </a:t>
            </a:r>
            <a:r>
              <a:rPr lang="en-US" sz="2000" i="1" dirty="0" err="1">
                <a:latin typeface="Maven Pro"/>
              </a:rPr>
              <a:t>mIoU</a:t>
            </a:r>
            <a:endParaRPr lang="ru-RU" sz="20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endParaRPr lang="en-US" sz="2000" i="1" dirty="0">
              <a:latin typeface="Maven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7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20" y="614553"/>
            <a:ext cx="10131360" cy="57019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3819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F9F5F3DF-7781-180D-D71B-2772BDED0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02" y="1674201"/>
            <a:ext cx="5335919" cy="40703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C506C0A-004E-C9C2-7301-90AD6F5AA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78" y="1781174"/>
            <a:ext cx="5433520" cy="39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54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Baseline &amp; Torch compile &amp; TVM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519" y="1895951"/>
            <a:ext cx="6242562" cy="43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21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04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0922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Quantization</a:t>
            </a:r>
            <a:endParaRPr sz="4267"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44" y="2408200"/>
            <a:ext cx="3695309" cy="2077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1359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3;p32"/>
          <p:cNvSpPr txBox="1">
            <a:spLocks/>
          </p:cNvSpPr>
          <p:nvPr/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en" dirty="0" smtClean="0">
                <a:latin typeface="Maven Pro Medium" panose="00000600000000000000" pitchFamily="2" charset="0"/>
              </a:rPr>
              <a:t>Learned Step Size Quantization</a:t>
            </a:r>
            <a:endParaRPr lang="en" b="1" dirty="0">
              <a:latin typeface="Maven Pro Medium" panose="00000600000000000000" pitchFamily="2" charset="0"/>
            </a:endParaRPr>
          </a:p>
        </p:txBody>
      </p:sp>
      <p:sp>
        <p:nvSpPr>
          <p:cNvPr id="6" name="Google Shape;275;p32"/>
          <p:cNvSpPr txBox="1">
            <a:spLocks/>
          </p:cNvSpPr>
          <p:nvPr/>
        </p:nvSpPr>
        <p:spPr>
          <a:xfrm>
            <a:off x="801297" y="1984832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 smtClean="0">
                <a:latin typeface="Maven Pro" panose="00000500000000000000" pitchFamily="2" charset="0"/>
              </a:rPr>
              <a:t>Обучение </a:t>
            </a:r>
            <a:r>
              <a:rPr lang="ru-RU" sz="2000" dirty="0" err="1" smtClean="0">
                <a:latin typeface="Maven Pro" panose="00000500000000000000" pitchFamily="2" charset="0"/>
              </a:rPr>
              <a:t>свёрточных</a:t>
            </a:r>
            <a:r>
              <a:rPr lang="ru-RU" sz="2000" dirty="0" smtClean="0">
                <a:latin typeface="Maven Pro" panose="00000500000000000000" pitchFamily="2" charset="0"/>
              </a:rPr>
              <a:t> слоёв в 8</a:t>
            </a:r>
            <a:r>
              <a:rPr lang="en-US" sz="2000" dirty="0" smtClean="0">
                <a:latin typeface="Maven Pro" panose="00000500000000000000" pitchFamily="2" charset="0"/>
              </a:rPr>
              <a:t> bit</a:t>
            </a:r>
            <a:endParaRPr lang="en-US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 err="1" smtClean="0">
                <a:latin typeface="Maven Pro Medium" panose="00000600000000000000" pitchFamily="2" charset="0"/>
              </a:rPr>
              <a:t>Инференс</a:t>
            </a:r>
            <a:r>
              <a:rPr lang="ru-RU" sz="2000" dirty="0" smtClean="0">
                <a:latin typeface="Maven Pro Medium" panose="00000600000000000000" pitchFamily="2" charset="0"/>
              </a:rPr>
              <a:t> </a:t>
            </a:r>
            <a:r>
              <a:rPr lang="en-US" sz="2000" dirty="0" smtClean="0">
                <a:latin typeface="Maven Pro Medium" panose="00000600000000000000" pitchFamily="2" charset="0"/>
              </a:rPr>
              <a:t>c</a:t>
            </a:r>
            <a:r>
              <a:rPr lang="ru-RU" sz="2000" dirty="0" smtClean="0">
                <a:latin typeface="Maven Pro Medium" panose="00000600000000000000" pitchFamily="2" charset="0"/>
              </a:rPr>
              <a:t> </a:t>
            </a:r>
            <a:r>
              <a:rPr lang="en-US" sz="2000" dirty="0" smtClean="0">
                <a:latin typeface="Maven Pro Medium" panose="00000600000000000000" pitchFamily="2" charset="0"/>
              </a:rPr>
              <a:t>torch.nn.functional.conv2d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 err="1" smtClean="0">
                <a:latin typeface="Maven Pro Medium" panose="00000600000000000000" pitchFamily="2" charset="0"/>
              </a:rPr>
              <a:t>Инференс</a:t>
            </a:r>
            <a:r>
              <a:rPr lang="ru-RU" sz="2000" dirty="0" smtClean="0">
                <a:latin typeface="Maven Pro Medium" panose="00000600000000000000" pitchFamily="2" charset="0"/>
              </a:rPr>
              <a:t> с </a:t>
            </a:r>
            <a:r>
              <a:rPr lang="en-US" sz="2000" dirty="0" smtClean="0">
                <a:latin typeface="Maven Pro Medium" panose="00000600000000000000" pitchFamily="2" charset="0"/>
              </a:rPr>
              <a:t>Triton-</a:t>
            </a:r>
            <a:r>
              <a:rPr lang="ru-RU" sz="2000" dirty="0" smtClean="0">
                <a:latin typeface="Maven Pro Medium" panose="00000600000000000000" pitchFamily="2" charset="0"/>
              </a:rPr>
              <a:t>ядром</a:t>
            </a:r>
            <a:endParaRPr lang="ru-RU" sz="2000" dirty="0">
              <a:latin typeface="Maven Pro Medium" panose="00000600000000000000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253" y="2204581"/>
            <a:ext cx="6889952" cy="288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51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000" y="719332"/>
            <a:ext cx="10272000" cy="1527253"/>
          </a:xfrm>
        </p:spPr>
        <p:txBody>
          <a:bodyPr/>
          <a:lstStyle/>
          <a:p>
            <a:pPr algn="ctr"/>
            <a:r>
              <a:rPr lang="en-US" dirty="0" smtClean="0">
                <a:latin typeface="Maven Pro Medium" panose="00000600000000000000" pitchFamily="2" charset="0"/>
              </a:rPr>
              <a:t>Inference c </a:t>
            </a:r>
            <a:r>
              <a:rPr lang="en-US" dirty="0" smtClean="0">
                <a:latin typeface="Maven Pro Medium" panose="00000600000000000000" pitchFamily="2" charset="0"/>
              </a:rPr>
              <a:t>F.conv2</a:t>
            </a:r>
            <a:r>
              <a:rPr lang="ru-RU" dirty="0" smtClean="0">
                <a:latin typeface="Maven Pro Medium" panose="00000600000000000000" pitchFamily="2" charset="0"/>
              </a:rPr>
              <a:t> </a:t>
            </a:r>
            <a:r>
              <a:rPr lang="en-US" dirty="0" smtClean="0">
                <a:latin typeface="Maven Pro Medium" panose="00000600000000000000" pitchFamily="2" charset="0"/>
              </a:rPr>
              <a:t>(fp16)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38" y="1538863"/>
            <a:ext cx="10764989" cy="431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4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000" y="719332"/>
            <a:ext cx="10272000" cy="1527253"/>
          </a:xfrm>
        </p:spPr>
        <p:txBody>
          <a:bodyPr/>
          <a:lstStyle/>
          <a:p>
            <a:pPr algn="ctr"/>
            <a:r>
              <a:rPr lang="en-US" dirty="0">
                <a:latin typeface="Maven Pro Medium" panose="00000600000000000000" pitchFamily="2" charset="0"/>
              </a:rPr>
              <a:t>Inference </a:t>
            </a:r>
            <a:r>
              <a:rPr lang="en-US" dirty="0" smtClean="0">
                <a:latin typeface="Maven Pro Medium" panose="00000600000000000000" pitchFamily="2" charset="0"/>
              </a:rPr>
              <a:t>Triton-</a:t>
            </a:r>
            <a:r>
              <a:rPr lang="en-US" dirty="0">
                <a:latin typeface="Maven Pro Medium" panose="00000600000000000000" pitchFamily="2" charset="0"/>
              </a:rPr>
              <a:t>k</a:t>
            </a:r>
            <a:r>
              <a:rPr lang="en-US" dirty="0" smtClean="0">
                <a:latin typeface="Maven Pro Medium" panose="00000600000000000000" pitchFamily="2" charset="0"/>
              </a:rPr>
              <a:t>ernel</a:t>
            </a:r>
            <a:r>
              <a:rPr lang="ru-RU" dirty="0" smtClean="0"/>
              <a:t> </a:t>
            </a:r>
            <a:r>
              <a:rPr lang="en-US" dirty="0">
                <a:latin typeface="Maven Pro Medium" panose="00000600000000000000" pitchFamily="2" charset="0"/>
              </a:rPr>
              <a:t>(</a:t>
            </a:r>
            <a:r>
              <a:rPr lang="en-US" dirty="0" smtClean="0">
                <a:latin typeface="Maven Pro Medium" panose="00000600000000000000" pitchFamily="2" charset="0"/>
              </a:rPr>
              <a:t>int8)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17" y="1803486"/>
            <a:ext cx="11760283" cy="379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39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1" y="2062184"/>
            <a:ext cx="5119852" cy="380539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380" y="2034528"/>
            <a:ext cx="5233589" cy="383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64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Throughput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/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 </a:t>
            </a:r>
            <a:r>
              <a:rPr lang="en" sz="4400" dirty="0" smtClean="0">
                <a:latin typeface="Maven Pro Medium" panose="00000600000000000000" pitchFamily="2" charset="0"/>
              </a:rPr>
              <a:t>with lsq</a:t>
            </a:r>
            <a:endParaRPr lang="en" sz="4400" dirty="0">
              <a:latin typeface="Maven Pro Medium" panose="000006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B78FF8A2-6B28-852D-FDFC-9942AB1B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08" y="2047874"/>
            <a:ext cx="5277704" cy="3704077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102" y="2047874"/>
            <a:ext cx="5331440" cy="376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5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</a:t>
            </a:r>
            <a:r>
              <a:rPr lang="en-US" sz="6600" b="1" dirty="0">
                <a:latin typeface="Maven Pro Medium" panose="00000600000000000000" pitchFamily="2" charset="0"/>
              </a:rPr>
              <a:t>5</a:t>
            </a:r>
            <a:r>
              <a:rPr lang="en" sz="6600" b="1" dirty="0">
                <a:latin typeface="Maven Pro Medium" panose="00000600000000000000" pitchFamily="2" charset="0"/>
              </a:rPr>
              <a:t>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0922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Pruning</a:t>
            </a:r>
            <a:r>
              <a:rPr lang="en-US" b="1" dirty="0">
                <a:latin typeface="Maven Pro Medium" panose="00000600000000000000" pitchFamily="2" charset="0"/>
              </a:rPr>
              <a:t/>
            </a:r>
            <a:br>
              <a:rPr lang="en-US" b="1" dirty="0">
                <a:latin typeface="Maven Pro Medium" panose="00000600000000000000" pitchFamily="2" charset="0"/>
              </a:rPr>
            </a:br>
            <a:endParaRPr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75" y="2337584"/>
            <a:ext cx="4023652" cy="21828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05708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3;p32"/>
          <p:cNvSpPr txBox="1">
            <a:spLocks/>
          </p:cNvSpPr>
          <p:nvPr/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en">
                <a:latin typeface="Maven Pro Medium" panose="00000600000000000000" pitchFamily="2" charset="0"/>
              </a:rPr>
              <a:t>Unstructured Pruning</a:t>
            </a:r>
            <a:endParaRPr lang="en" b="1" dirty="0">
              <a:latin typeface="Maven Pro Medium" panose="00000600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6096000" y="2241616"/>
            <a:ext cx="5255991" cy="28095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75;p32"/>
          <p:cNvSpPr txBox="1">
            <a:spLocks/>
          </p:cNvSpPr>
          <p:nvPr/>
        </p:nvSpPr>
        <p:spPr>
          <a:xfrm>
            <a:off x="812638" y="1482933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Зануление весов в тензорах</a:t>
            </a:r>
            <a:endParaRPr lang="en-US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 pitchFamily="2" charset="0"/>
              </a:rPr>
              <a:t>Слои не меняются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 pitchFamily="2" charset="0"/>
              </a:rPr>
              <a:t>Используем </a:t>
            </a:r>
            <a:r>
              <a:rPr lang="en-US" sz="2000" dirty="0">
                <a:latin typeface="Maven Pro Medium" panose="00000600000000000000" pitchFamily="2" charset="0"/>
              </a:rPr>
              <a:t>torch.nn.utils.l1_unstructed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Pruning percent</a:t>
            </a:r>
            <a:r>
              <a:rPr lang="ru-RU" sz="2000" dirty="0">
                <a:latin typeface="Maven Pro" panose="00000500000000000000" pitchFamily="2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Maven Pro" panose="00000500000000000000" pitchFamily="2" charset="0"/>
              </a:rPr>
              <a:t>10</a:t>
            </a:r>
            <a:r>
              <a:rPr lang="en-US" sz="2000" dirty="0">
                <a:latin typeface="Maven Pro" panose="00000500000000000000" pitchFamily="2" charset="0"/>
              </a:rPr>
              <a:t>/20/25/30/35/40/45/50/55/60%</a:t>
            </a:r>
          </a:p>
        </p:txBody>
      </p:sp>
    </p:spTree>
    <p:extLst>
      <p:ext uri="{BB962C8B-B14F-4D97-AF65-F5344CB8AC3E}">
        <p14:creationId xmlns:p14="http://schemas.microsoft.com/office/powerpoint/2010/main" val="1536160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757" y="357764"/>
            <a:ext cx="10902486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Layer damage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24" y="1705233"/>
            <a:ext cx="10683951" cy="44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84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656758" y="187994"/>
            <a:ext cx="9076193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  <a:r>
              <a:rPr lang="ru-RU" sz="4000" dirty="0">
                <a:latin typeface="Maven Pro Medium" panose="00000600000000000000" pitchFamily="2" charset="0"/>
              </a:rPr>
              <a:t> 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59" y="1312972"/>
            <a:ext cx="8880992" cy="3870739"/>
          </a:xfrm>
          <a:prstGeom prst="rect">
            <a:avLst/>
          </a:prstGeom>
        </p:spPr>
      </p:pic>
      <p:sp>
        <p:nvSpPr>
          <p:cNvPr id="10" name="Google Shape;275;p32"/>
          <p:cNvSpPr txBox="1">
            <a:spLocks/>
          </p:cNvSpPr>
          <p:nvPr/>
        </p:nvSpPr>
        <p:spPr>
          <a:xfrm>
            <a:off x="852616" y="5292977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</a:t>
            </a:r>
            <a:r>
              <a:rPr lang="ru-RU" sz="1800" b="1" dirty="0">
                <a:latin typeface="Maven Pro" panose="00000500000000000000" pitchFamily="2" charset="0"/>
              </a:rPr>
              <a:t>8</a:t>
            </a:r>
            <a:r>
              <a:rPr lang="en-US" sz="1800" b="1" dirty="0">
                <a:latin typeface="Maven Pro" panose="00000500000000000000" pitchFamily="2" charset="0"/>
              </a:rPr>
              <a:t>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unstructured pruning model = 0.4804</a:t>
            </a:r>
          </a:p>
        </p:txBody>
      </p:sp>
    </p:spTree>
    <p:extLst>
      <p:ext uri="{BB962C8B-B14F-4D97-AF65-F5344CB8AC3E}">
        <p14:creationId xmlns:p14="http://schemas.microsoft.com/office/powerpoint/2010/main" val="3735087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-US" dirty="0">
                <a:latin typeface="Maven Pro Medium" panose="00000600000000000000" pitchFamily="2" charset="0"/>
              </a:rPr>
              <a:t>S</a:t>
            </a:r>
            <a:r>
              <a:rPr lang="en" dirty="0">
                <a:latin typeface="Maven Pro Medium" panose="00000600000000000000" pitchFamily="2" charset="0"/>
              </a:rPr>
              <a:t>tructured Pruning</a:t>
            </a:r>
            <a:endParaRPr lang="en" b="1" dirty="0">
              <a:latin typeface="Maven Pro Medium" panose="00000600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631" y="2172832"/>
            <a:ext cx="5669439" cy="2669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75;p32"/>
          <p:cNvSpPr txBox="1">
            <a:spLocks/>
          </p:cNvSpPr>
          <p:nvPr/>
        </p:nvSpPr>
        <p:spPr>
          <a:xfrm>
            <a:off x="6096000" y="1732831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/>
              </a:rPr>
              <a:t>Использовали </a:t>
            </a:r>
            <a:r>
              <a:rPr lang="en-US" sz="2000" dirty="0">
                <a:latin typeface="Maven Pro Medium" panose="00000600000000000000"/>
              </a:rPr>
              <a:t>torch-pruning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/>
              </a:rPr>
              <a:t>Уменьшено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35.76% </a:t>
            </a:r>
            <a:r>
              <a:rPr lang="ru-RU" sz="2000" dirty="0">
                <a:latin typeface="Maven Pro Medium" panose="00000600000000000000"/>
              </a:rPr>
              <a:t>параметров</a:t>
            </a:r>
            <a:r>
              <a:rPr lang="en-US" sz="2000" dirty="0">
                <a:latin typeface="Maven Pro Medium" panose="00000600000000000000"/>
              </a:rPr>
              <a:t>: </a:t>
            </a:r>
            <a:endParaRPr lang="ru-RU" sz="2000" dirty="0">
              <a:latin typeface="Maven Pro" panose="000005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Maven Pro" panose="00000500000000000000" pitchFamily="2" charset="0"/>
              </a:rPr>
              <a:t>	</a:t>
            </a:r>
            <a:r>
              <a:rPr lang="en-US" sz="2000" dirty="0">
                <a:latin typeface="Maven Pro Medium" panose="00000600000000000000"/>
              </a:rPr>
              <a:t>51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524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833 -&gt; 33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099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649</a:t>
            </a:r>
          </a:p>
        </p:txBody>
      </p:sp>
    </p:spTree>
    <p:extLst>
      <p:ext uri="{BB962C8B-B14F-4D97-AF65-F5344CB8AC3E}">
        <p14:creationId xmlns:p14="http://schemas.microsoft.com/office/powerpoint/2010/main" val="3246548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557902" y="311562"/>
            <a:ext cx="9076193" cy="98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  <a:r>
              <a:rPr lang="ru-RU" sz="4000" dirty="0">
                <a:latin typeface="Maven Pro Medium" panose="00000600000000000000" pitchFamily="2" charset="0"/>
              </a:rPr>
              <a:t> 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1836"/>
          <a:stretch/>
        </p:blipFill>
        <p:spPr>
          <a:xfrm>
            <a:off x="1666081" y="1196332"/>
            <a:ext cx="8697119" cy="4315652"/>
          </a:xfrm>
          <a:prstGeom prst="rect">
            <a:avLst/>
          </a:prstGeom>
        </p:spPr>
      </p:pic>
      <p:sp>
        <p:nvSpPr>
          <p:cNvPr id="7" name="Google Shape;275;p32"/>
          <p:cNvSpPr txBox="1">
            <a:spLocks/>
          </p:cNvSpPr>
          <p:nvPr/>
        </p:nvSpPr>
        <p:spPr>
          <a:xfrm>
            <a:off x="652848" y="5381042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0.4819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structured pruning model = 0.01</a:t>
            </a:r>
          </a:p>
        </p:txBody>
      </p:sp>
    </p:spTree>
    <p:extLst>
      <p:ext uri="{BB962C8B-B14F-4D97-AF65-F5344CB8AC3E}">
        <p14:creationId xmlns:p14="http://schemas.microsoft.com/office/powerpoint/2010/main" val="2260988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391782" y="172995"/>
            <a:ext cx="10552671" cy="10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 </a:t>
            </a:r>
            <a:r>
              <a:rPr lang="ru-RU" sz="4000" dirty="0">
                <a:latin typeface="Maven Pro Medium" panose="00000600000000000000" pitchFamily="2" charset="0"/>
              </a:rPr>
              <a:t>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r>
              <a:rPr lang="en" sz="4000" dirty="0">
                <a:latin typeface="Maven Pro Medium" panose="00000600000000000000" pitchFamily="2" charset="0"/>
              </a:rPr>
              <a:t> after</a:t>
            </a:r>
            <a:r>
              <a:rPr lang="ru-RU" sz="4000" dirty="0">
                <a:latin typeface="Maven Pro Medium" panose="00000600000000000000" pitchFamily="2" charset="0"/>
              </a:rPr>
              <a:t> </a:t>
            </a:r>
            <a:r>
              <a:rPr lang="en-US" sz="4000" dirty="0">
                <a:latin typeface="Maven Pro Medium" panose="00000600000000000000" pitchFamily="2" charset="0"/>
              </a:rPr>
              <a:t>new training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2519"/>
          <a:stretch/>
        </p:blipFill>
        <p:spPr>
          <a:xfrm>
            <a:off x="1391782" y="1095752"/>
            <a:ext cx="9171443" cy="4269840"/>
          </a:xfrm>
          <a:prstGeom prst="rect">
            <a:avLst/>
          </a:prstGeom>
        </p:spPr>
      </p:pic>
      <p:sp>
        <p:nvSpPr>
          <p:cNvPr id="7" name="Google Shape;275;p32"/>
          <p:cNvSpPr txBox="1">
            <a:spLocks/>
          </p:cNvSpPr>
          <p:nvPr/>
        </p:nvSpPr>
        <p:spPr>
          <a:xfrm>
            <a:off x="531340" y="5365592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0.4819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unstructured pruning model = 0.4608</a:t>
            </a:r>
          </a:p>
        </p:txBody>
      </p:sp>
    </p:spTree>
    <p:extLst>
      <p:ext uri="{BB962C8B-B14F-4D97-AF65-F5344CB8AC3E}">
        <p14:creationId xmlns:p14="http://schemas.microsoft.com/office/powerpoint/2010/main" val="3402020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412CCA63-DAD6-5187-D58F-B6AF645FC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970" y="2062184"/>
            <a:ext cx="5084509" cy="375990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B6A7511A-9ED8-17DE-0159-3CC743278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21" y="2155080"/>
            <a:ext cx="4852281" cy="352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1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Throughput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/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 with pruning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B78FF8A2-6B28-852D-FDFC-9942AB1B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08" y="2047874"/>
            <a:ext cx="5277704" cy="37040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DF6E47BE-B841-C4E1-48FF-DFB00526B3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490" y="1986775"/>
            <a:ext cx="5120640" cy="37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37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000" y="719332"/>
            <a:ext cx="10272000" cy="1527253"/>
          </a:xfrm>
        </p:spPr>
        <p:txBody>
          <a:bodyPr/>
          <a:lstStyle/>
          <a:p>
            <a:pPr algn="ctr"/>
            <a:r>
              <a:rPr lang="en-US" dirty="0">
                <a:latin typeface="Maven Pro Medium" panose="00000600000000000000" pitchFamily="2" charset="0"/>
              </a:rPr>
              <a:t>2:4 semi structured pruning + </a:t>
            </a:r>
            <a:r>
              <a:rPr lang="en-US" dirty="0" err="1">
                <a:latin typeface="Maven Pro Medium" panose="00000600000000000000" pitchFamily="2" charset="0"/>
              </a:rPr>
              <a:t>finetuning</a:t>
            </a:r>
            <a:endParaRPr lang="ru-RU" dirty="0"/>
          </a:p>
        </p:txBody>
      </p:sp>
      <p:sp>
        <p:nvSpPr>
          <p:cNvPr id="3" name="Google Shape;275;p32"/>
          <p:cNvSpPr txBox="1">
            <a:spLocks/>
          </p:cNvSpPr>
          <p:nvPr/>
        </p:nvSpPr>
        <p:spPr>
          <a:xfrm>
            <a:off x="1071456" y="1808435"/>
            <a:ext cx="10049088" cy="41282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/>
              <a:t>Не удалось достичь ускорения</a:t>
            </a:r>
          </a:p>
          <a:p>
            <a:pPr marL="0" indent="0">
              <a:buNone/>
            </a:pPr>
            <a:r>
              <a:rPr lang="ru-RU" sz="2000" dirty="0"/>
              <a:t>Модель:</a:t>
            </a:r>
          </a:p>
          <a:p>
            <a:r>
              <a:rPr lang="ru-RU" sz="2000" dirty="0"/>
              <a:t>почти полностью состоит из Conv2d</a:t>
            </a:r>
          </a:p>
          <a:p>
            <a:r>
              <a:rPr lang="ru-RU" sz="2000" dirty="0"/>
              <a:t>не содержит тяжёлых </a:t>
            </a:r>
            <a:r>
              <a:rPr lang="ru-RU" sz="2000" dirty="0" err="1"/>
              <a:t>Linear</a:t>
            </a:r>
            <a:r>
              <a:rPr lang="ru-RU" sz="2000" dirty="0"/>
              <a:t>-слоёв</a:t>
            </a:r>
          </a:p>
          <a:p>
            <a:pPr marL="0" indent="0">
              <a:buNone/>
            </a:pPr>
            <a:r>
              <a:rPr lang="ru-RU" sz="2000" dirty="0"/>
              <a:t>2:4 </a:t>
            </a:r>
            <a:r>
              <a:rPr lang="ru-RU" sz="2000" dirty="0" err="1"/>
              <a:t>sparsity</a:t>
            </a:r>
            <a:r>
              <a:rPr lang="ru-RU" sz="2000" dirty="0"/>
              <a:t> в </a:t>
            </a:r>
            <a:r>
              <a:rPr lang="ru-RU" sz="2000" dirty="0" err="1"/>
              <a:t>PyTorch</a:t>
            </a:r>
            <a:r>
              <a:rPr lang="ru-RU" sz="2000" dirty="0"/>
              <a:t>:</a:t>
            </a:r>
          </a:p>
          <a:p>
            <a:r>
              <a:rPr lang="ru-RU" sz="2000" dirty="0"/>
              <a:t>ускоряется через </a:t>
            </a:r>
            <a:r>
              <a:rPr lang="ru-RU" sz="2000" dirty="0" err="1"/>
              <a:t>sparse</a:t>
            </a:r>
            <a:r>
              <a:rPr lang="ru-RU" sz="2000" dirty="0"/>
              <a:t> </a:t>
            </a:r>
            <a:r>
              <a:rPr lang="ru-RU" sz="2000" dirty="0" err="1"/>
              <a:t>matmul</a:t>
            </a:r>
            <a:r>
              <a:rPr lang="ru-RU" sz="2000" dirty="0"/>
              <a:t> (GEMM)</a:t>
            </a:r>
          </a:p>
          <a:p>
            <a:r>
              <a:rPr lang="ru-RU" sz="2000" dirty="0"/>
              <a:t>эффективно работает для </a:t>
            </a:r>
            <a:r>
              <a:rPr lang="ru-RU" sz="2000" dirty="0" err="1"/>
              <a:t>nn.Linear</a:t>
            </a:r>
            <a:endParaRPr lang="ru-RU" sz="2000" dirty="0"/>
          </a:p>
          <a:p>
            <a:r>
              <a:rPr lang="ru-RU" sz="2000" dirty="0"/>
              <a:t>не даёт ускорения для Conv2d (т.к. Conv2d + 2:4 </a:t>
            </a:r>
            <a:r>
              <a:rPr lang="ru-RU" sz="2000" dirty="0" err="1"/>
              <a:t>mask</a:t>
            </a:r>
            <a:r>
              <a:rPr lang="ru-RU" sz="2000" dirty="0"/>
              <a:t> -&gt; вычисляется как обычный </a:t>
            </a:r>
            <a:r>
              <a:rPr lang="ru-RU" sz="2000" dirty="0" err="1"/>
              <a:t>dense</a:t>
            </a:r>
            <a:r>
              <a:rPr lang="ru-RU" sz="2000" dirty="0"/>
              <a:t> </a:t>
            </a:r>
            <a:r>
              <a:rPr lang="ru-RU" sz="2000" dirty="0" err="1"/>
              <a:t>conv</a:t>
            </a:r>
            <a:r>
              <a:rPr lang="ru-RU" sz="2000" dirty="0"/>
              <a:t> с нулями)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5205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5;p32"/>
          <p:cNvSpPr txBox="1">
            <a:spLocks/>
          </p:cNvSpPr>
          <p:nvPr/>
        </p:nvSpPr>
        <p:spPr>
          <a:xfrm>
            <a:off x="1071456" y="676275"/>
            <a:ext cx="10049088" cy="569858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U</a:t>
            </a:r>
            <a:r>
              <a:rPr lang="ru-RU" sz="2000" b="1" dirty="0" err="1"/>
              <a:t>nstructed</a:t>
            </a:r>
            <a:r>
              <a:rPr lang="ru-RU" sz="2000" b="1" dirty="0"/>
              <a:t> </a:t>
            </a:r>
            <a:r>
              <a:rPr lang="en-US" sz="2000" b="1" dirty="0"/>
              <a:t>pruning</a:t>
            </a:r>
            <a:endParaRPr lang="ru-RU" sz="2000" b="1" dirty="0"/>
          </a:p>
          <a:p>
            <a:r>
              <a:rPr lang="ru-RU" sz="2000" dirty="0"/>
              <a:t>При обнулении 20.20% весов сверточных слоёв</a:t>
            </a:r>
            <a:r>
              <a:rPr lang="en-US" sz="2000" dirty="0"/>
              <a:t> </a:t>
            </a:r>
            <a:r>
              <a:rPr lang="ru-RU" sz="2000" dirty="0"/>
              <a:t>модель сохраняет устойчивость и качество, что говорит о наличии параметрической избыточности.</a:t>
            </a:r>
          </a:p>
          <a:p>
            <a:r>
              <a:rPr lang="ru-RU" sz="2000" dirty="0"/>
              <a:t>Однако, такой тип </a:t>
            </a:r>
            <a:r>
              <a:rPr lang="ru-RU" sz="2000" dirty="0" err="1"/>
              <a:t>спарсификации</a:t>
            </a:r>
            <a:r>
              <a:rPr lang="ru-RU" sz="2000" dirty="0"/>
              <a:t> не меняет архитектуру и в стандартном </a:t>
            </a:r>
            <a:r>
              <a:rPr lang="ru-RU" sz="2000" dirty="0" err="1"/>
              <a:t>runtime</a:t>
            </a:r>
            <a:r>
              <a:rPr lang="ru-RU" sz="2000" dirty="0"/>
              <a:t> не даёт заметного ускорения </a:t>
            </a:r>
            <a:r>
              <a:rPr lang="ru-RU" sz="2000" dirty="0" err="1"/>
              <a:t>инференса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S</a:t>
            </a:r>
            <a:r>
              <a:rPr lang="ru-RU" sz="2000" b="1" dirty="0" err="1"/>
              <a:t>tructed</a:t>
            </a:r>
            <a:r>
              <a:rPr lang="ru-RU" sz="2000" b="1" dirty="0"/>
              <a:t> </a:t>
            </a:r>
            <a:r>
              <a:rPr lang="en-US" sz="2000" b="1" dirty="0"/>
              <a:t>pruning</a:t>
            </a:r>
            <a:endParaRPr lang="ru-RU" sz="2000" b="1" dirty="0"/>
          </a:p>
          <a:p>
            <a:r>
              <a:rPr lang="ru-RU" sz="2000" dirty="0"/>
              <a:t>Из 51 524 833 параметров было удалено 35.76% параметров. Осталось 33 099 649 параметров</a:t>
            </a:r>
          </a:p>
          <a:p>
            <a:r>
              <a:rPr lang="ru-RU" sz="2000" dirty="0"/>
              <a:t>Такой подход уже меняет архитектуру и может дать реальное ускорение</a:t>
            </a:r>
          </a:p>
        </p:txBody>
      </p:sp>
    </p:spTree>
    <p:extLst>
      <p:ext uri="{BB962C8B-B14F-4D97-AF65-F5344CB8AC3E}">
        <p14:creationId xmlns:p14="http://schemas.microsoft.com/office/powerpoint/2010/main" val="784116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="" xmlns:a16="http://schemas.microsoft.com/office/drawing/2014/main" id="{3E7405EA-13FA-F510-58E3-D7E1AD2B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>
            <a:extLst>
              <a:ext uri="{FF2B5EF4-FFF2-40B4-BE49-F238E27FC236}">
                <a16:creationId xmlns="" xmlns:a16="http://schemas.microsoft.com/office/drawing/2014/main" id="{57229E31-C117-D41E-2496-8F5D0F8C6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664" y="2897127"/>
            <a:ext cx="10192832" cy="106374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sz="6000" b="1" dirty="0">
                <a:latin typeface="Maven Pro Medium" panose="00000600000000000000" pitchFamily="2" charset="0"/>
              </a:rPr>
              <a:t>Thanks</a:t>
            </a:r>
            <a:r>
              <a:rPr lang="ru-RU" sz="6000" b="1" dirty="0"/>
              <a:t> </a:t>
            </a:r>
            <a:r>
              <a:rPr lang="en-US" sz="6000" b="1" dirty="0">
                <a:latin typeface="Maven Pro Medium" panose="00000600000000000000" pitchFamily="2" charset="0"/>
              </a:rPr>
              <a:t>for you attention!</a:t>
            </a:r>
            <a:endParaRPr lang="en" sz="6000" b="1" dirty="0">
              <a:latin typeface="Maven Pro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80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467</Words>
  <Application>Microsoft Office PowerPoint</Application>
  <PresentationFormat>Широкоэкранный</PresentationFormat>
  <Paragraphs>118</Paragraphs>
  <Slides>34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6" baseType="lpstr">
      <vt:lpstr>Arial</vt:lpstr>
      <vt:lpstr>Arial,Sans-Serif</vt:lpstr>
      <vt:lpstr>Calibri</vt:lpstr>
      <vt:lpstr>Calibri Light</vt:lpstr>
      <vt:lpstr>Maven Pro</vt:lpstr>
      <vt:lpstr>Maven Pro Medium</vt:lpstr>
      <vt:lpstr>Maven Pro SemiBold</vt:lpstr>
      <vt:lpstr>Nunito Light</vt:lpstr>
      <vt:lpstr>Roboto</vt:lpstr>
      <vt:lpstr>Segoe UI</vt:lpstr>
      <vt:lpstr>Segoe UI Black</vt:lpstr>
      <vt:lpstr>Тема Office</vt:lpstr>
      <vt:lpstr>Ускорение Unet Inference</vt:lpstr>
      <vt:lpstr>Содержание</vt:lpstr>
      <vt:lpstr>Baseline</vt:lpstr>
      <vt:lpstr>Baseline</vt:lpstr>
      <vt:lpstr>Loss function</vt:lpstr>
      <vt:lpstr>Презентация PowerPoint</vt:lpstr>
      <vt:lpstr>Torch Compile</vt:lpstr>
      <vt:lpstr>Torch.compile</vt:lpstr>
      <vt:lpstr>Презентация PowerPoint</vt:lpstr>
      <vt:lpstr>Latency</vt:lpstr>
      <vt:lpstr>Baseline &amp; Torch compile Throughput</vt:lpstr>
      <vt:lpstr>03 </vt:lpstr>
      <vt:lpstr>TVM</vt:lpstr>
      <vt:lpstr>Презентация PowerPoint</vt:lpstr>
      <vt:lpstr>Latency</vt:lpstr>
      <vt:lpstr>Baseline &amp; Torch compile &amp; TVM Throughput</vt:lpstr>
      <vt:lpstr>04 </vt:lpstr>
      <vt:lpstr>Презентация PowerPoint</vt:lpstr>
      <vt:lpstr>Inference c F.conv2 (fp16)</vt:lpstr>
      <vt:lpstr>Inference Triton-kernel (int8)</vt:lpstr>
      <vt:lpstr>Latency</vt:lpstr>
      <vt:lpstr>Throughput  Throughput with lsq</vt:lpstr>
      <vt:lpstr>05 </vt:lpstr>
      <vt:lpstr>Презентация PowerPoint</vt:lpstr>
      <vt:lpstr>Layer damage</vt:lpstr>
      <vt:lpstr>Презентация PowerPoint</vt:lpstr>
      <vt:lpstr>Structured Pruning</vt:lpstr>
      <vt:lpstr>Презентация PowerPoint</vt:lpstr>
      <vt:lpstr>Презентация PowerPoint</vt:lpstr>
      <vt:lpstr>Latency</vt:lpstr>
      <vt:lpstr>Throughput  Throughput with pruning</vt:lpstr>
      <vt:lpstr>2:4 semi structured pruning + finetuning</vt:lpstr>
      <vt:lpstr>Презентация PowerPoint</vt:lpstr>
      <vt:lpstr>Thanks for you attention!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Unet Inference Acceleration</dc:title>
  <dc:creator>Anton</dc:creator>
  <cp:lastModifiedBy>Anton</cp:lastModifiedBy>
  <cp:revision>75</cp:revision>
  <dcterms:created xsi:type="dcterms:W3CDTF">2026-04-21T12:04:19Z</dcterms:created>
  <dcterms:modified xsi:type="dcterms:W3CDTF">2026-04-27T10:05:31Z</dcterms:modified>
</cp:coreProperties>
</file>